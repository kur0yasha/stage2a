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91" r:id="rId9"/>
    <p:sldId id="264" r:id="rId10"/>
    <p:sldId id="266" r:id="rId11"/>
    <p:sldId id="267" r:id="rId12"/>
    <p:sldId id="271" r:id="rId13"/>
    <p:sldId id="274" r:id="rId14"/>
    <p:sldId id="275" r:id="rId15"/>
    <p:sldId id="277" r:id="rId16"/>
    <p:sldId id="276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6" r:id="rId25"/>
    <p:sldId id="285" r:id="rId26"/>
    <p:sldId id="287" r:id="rId27"/>
    <p:sldId id="288" r:id="rId28"/>
    <p:sldId id="289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03B1B-9C9F-4670-BF89-CBAACEC84356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84BB4-2B9E-4B8B-B3FB-4E8FE93446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19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24AF4C-E444-417C-16AB-EEB6ECDFC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A9F0C0-F7DD-05AF-97A4-63F4B1DA6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383671-3662-6BCC-80AF-239AB32C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756C6-141E-4764-B9FE-CB4F8FCEE1E4}" type="datetime1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CFF692-B9E3-E208-8BD6-F1DF2412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A2FCC4-6807-16B3-9D16-C1567ABF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87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29B59-A304-CE83-57B6-D9E2CBD5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A01294-6722-FE10-B9CD-D138E9551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755963-AA2D-D330-7734-094E6491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CA711-9D2F-4D10-A7D8-130E837F20CE}" type="datetime1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B3DE70-0241-E204-B4FD-8DF456C2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4CB94-ECC4-B80A-2D47-59B8CB24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10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7BE629-B5BF-6E9F-05FC-ACA48313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B3D030-5EC4-318A-FCE2-65DC04F43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555372-B60E-B44E-E4C3-667A8B7A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8937-63FE-46D8-830B-72B1A87590A5}" type="datetime1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0CD45C-5ABC-19A8-41AC-504EFD5F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05C617-AD9D-7134-56F5-84FAD49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65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2A8633-73EE-2830-B8F6-509D891A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182710-ECB5-FE11-81F6-58F87E08F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8F635FB-D57D-27BF-485C-A9CC1C8E4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97357F-7010-1298-CF39-96DE9B68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38FC-75E8-4CF6-9EF6-3FD23DFF6818}" type="datetime1">
              <a:rPr lang="fr-FR" smtClean="0"/>
              <a:t>20/06/2025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53AF18-E458-247F-A3A5-05E46201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33EA7D-645D-8BD9-8CC9-4F18EABFC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51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A41B3-B19C-1458-2AEA-EA8BE365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FC7F37-BFB1-9C3A-EB84-C50E35349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CAAA55-4159-3763-6C5A-8872DB8DC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725330-5A54-D052-EB48-08B806DC1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617765C-A622-8C07-1E5B-3705229C8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3AA2E08-1C59-5DE3-A868-0B96E568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BB28-9440-4704-934C-E6F23EF77B75}" type="datetime1">
              <a:rPr lang="fr-FR" smtClean="0"/>
              <a:t>20/06/2025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EA7819-717D-E0D4-F44C-2519C1B1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817642-6F4F-5863-223A-73D495EC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20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F2E4F9-AC00-894E-2809-2F3EBED4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6C85F4-E1D3-BD52-1FBC-DD4B9D8A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37A51-EDFF-47C3-B845-AE17F63AEF47}" type="datetime1">
              <a:rPr lang="fr-FR" smtClean="0"/>
              <a:t>20/06/2025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6D1C6B-DFD3-7C72-CF4C-2CE92AF8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CEFE4E-33FC-2B8E-CCB9-DF977B54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98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708398-A596-1856-34BB-72B7CDCB1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C78E-BF2C-4F13-9AC0-BE5E7AC97B03}" type="datetime1">
              <a:rPr lang="fr-FR" smtClean="0"/>
              <a:t>20/06/2025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298ACD-F8B9-E8D5-4103-743EC887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955196-2541-5612-4008-85C37047F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98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1273CF-E6B9-27DC-694F-645413E6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C7A10D-1A2D-D205-C5D5-B645D6C91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C86DEAA-974F-2E94-7E29-612D946B1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248F06-6307-6125-2D18-77B231DB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2B25-6597-4313-BA9B-96A41821EDD1}" type="datetime1">
              <a:rPr lang="fr-FR" smtClean="0"/>
              <a:t>20/06/2025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721C75-2C9F-FCDB-59FF-7718C207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F51D21-E8E6-C1DE-81FD-FD025F17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825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5D5A54-975E-DB7C-F21C-E4F2F91E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8418016-A9D9-28FD-CA44-63D52A942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8FB283-3E7C-B4CD-3B5F-8D48B3479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F292A5-6F64-FB7C-0FAE-6E13D46E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4C5C5-5EEC-4864-81A0-9B559ECD97E8}" type="datetime1">
              <a:rPr lang="fr-FR" smtClean="0"/>
              <a:t>20/06/2025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ED3B1B-8D4D-9469-7920-9854A5EE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9C9E08-CDB9-AAFF-446D-23982F36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20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B5403-5E84-C237-2A86-BB9BF5DC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39CA430-3A47-4832-2D08-951F7E916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8C2FA6-ED5F-87E0-A484-C1F9C2229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8346-B513-4073-9363-D1EBD950FCD5}" type="datetime1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EC7482-BFED-9395-B807-24C9822F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FC8206-105A-E3C6-AAB3-8ED16BC2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70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106D965-9B73-7260-EED4-C84B355D6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A68F03-1748-DF1D-15B7-B5FEDD7B6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00A732-F69B-CD09-876D-21A58DF0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B00E-0FF4-4D9C-AB9C-24CCC2E303C2}" type="datetime1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7AA60E-30D8-8962-9212-3231EEAD3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DAF92D-99ED-92E1-2103-87A2E5D3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3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E9C6ABD-D882-5C4E-1419-19F98B1F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FCD929-BD8A-877B-71AD-95743A5FA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328AB-E424-C283-2C98-1D524C50A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D6C13-EBA8-43F8-993D-CB0110B94835}" type="datetime1">
              <a:rPr lang="fr-FR" smtClean="0"/>
              <a:t>20/06/2025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2D7713-6066-F3BA-CEC3-0F68AF9D5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28A44F-8A86-53C6-644F-051F6A15C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5D118-F928-4355-9392-B4BA525631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94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4B4046-0857-05F2-7784-4EC73C52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F6D21-C76B-6EFA-A0EF-D0305F421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Organiser et garder une trace écrite des recherches.</a:t>
            </a:r>
          </a:p>
          <a:p>
            <a:endParaRPr lang="fr-FR" dirty="0"/>
          </a:p>
          <a:p>
            <a:r>
              <a:rPr lang="fr-FR" dirty="0"/>
              <a:t>Organiser les prochaines étapes du projet.</a:t>
            </a:r>
          </a:p>
          <a:p>
            <a:endParaRPr lang="fr-FR" dirty="0"/>
          </a:p>
          <a:p>
            <a:r>
              <a:rPr lang="fr-FR" dirty="0"/>
              <a:t>Recueillir un avis sur les solutions envisagées.</a:t>
            </a:r>
          </a:p>
          <a:p>
            <a:endParaRPr lang="fr-FR" dirty="0"/>
          </a:p>
          <a:p>
            <a:r>
              <a:rPr lang="fr-FR" dirty="0"/>
              <a:t>Aider a la prise de décision.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B2A4B9-EAC2-50EA-8F6A-02BCF98F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546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AB568F-0128-54A0-F4C4-4B34BF7A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52357B-5FAE-7DEB-92FB-748F7F770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dirty="0"/>
              <a:t>Méthodes usuelles de Scan2BIM (2D et 3D).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dirty="0"/>
              <a:t>État actuel du projet.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dirty="0"/>
              <a:t>Solution envisagée pour la problématique des trous.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dirty="0"/>
              <a:t>Perspectives à court terme.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dirty="0"/>
              <a:t>Perspectives à moyen terme.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4C0603-B07B-E1F1-DB33-98928E3F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71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29EBB-78AE-F16F-9D8E-18021EB9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- 3D -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61E4BA-9F5A-BC81-CDD5-FCF9FC640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Se base sur les coordonnées des points.</a:t>
            </a:r>
          </a:p>
          <a:p>
            <a:endParaRPr lang="fr-FR" dirty="0"/>
          </a:p>
          <a:p>
            <a:r>
              <a:rPr lang="fr-FR" dirty="0"/>
              <a:t>Approche très théorique (différent de la méthode humaine).</a:t>
            </a:r>
          </a:p>
          <a:p>
            <a:endParaRPr lang="fr-FR" dirty="0"/>
          </a:p>
          <a:p>
            <a:r>
              <a:rPr lang="fr-FR" dirty="0"/>
              <a:t>Méthode utilisée actuellement pour ce projet.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376756-5324-ADA0-CC47-8F7CBBB3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50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0601E-8D30-457B-36E8-63140D1B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- 3D - Fonctionnement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66681A0-08CB-417B-B293-F76A78D4E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35" y="2711043"/>
            <a:ext cx="9164329" cy="2038635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ADE44-D089-5C3A-3B38-BB88CF415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4</a:t>
            </a:fld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8EA318F-5896-55A0-EC6C-5C9B3E8ECD31}"/>
              </a:ext>
            </a:extLst>
          </p:cNvPr>
          <p:cNvSpPr/>
          <p:nvPr/>
        </p:nvSpPr>
        <p:spPr>
          <a:xfrm>
            <a:off x="1253066" y="239600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76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E189-B06E-74F5-583D-D1FFA87B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7567A-6429-27B5-A241-005A9863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- 3D - Fonctionnement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A287BE6-082C-06CD-4DF9-87D4F62C6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35" y="1500310"/>
            <a:ext cx="9164329" cy="2038635"/>
          </a:xfr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7A3040-9061-24DA-BED9-349566EE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5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EEB5F0C-6EE3-BEAA-2E35-35577FAD5B8B}"/>
              </a:ext>
            </a:extLst>
          </p:cNvPr>
          <p:cNvSpPr/>
          <p:nvPr/>
        </p:nvSpPr>
        <p:spPr>
          <a:xfrm>
            <a:off x="3175000" y="122760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2B7B0DF-ED69-E03A-5EC2-F4B1F7B09E1F}"/>
              </a:ext>
            </a:extLst>
          </p:cNvPr>
          <p:cNvSpPr txBox="1"/>
          <p:nvPr/>
        </p:nvSpPr>
        <p:spPr>
          <a:xfrm>
            <a:off x="838201" y="3928533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Détection de surfaces planes a l’aide de différentes méthodes.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surfaces ne sont pas forcément complètes.</a:t>
            </a:r>
          </a:p>
        </p:txBody>
      </p:sp>
    </p:spTree>
    <p:extLst>
      <p:ext uri="{BB962C8B-B14F-4D97-AF65-F5344CB8AC3E}">
        <p14:creationId xmlns:p14="http://schemas.microsoft.com/office/powerpoint/2010/main" val="1445351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E5D4-EF4B-76B1-01C6-7F98C7E18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B4449-F59F-242F-0053-4388528B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- 3D - Fonctionnement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C62A746-0524-6C34-5337-9743F00CD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35" y="1500310"/>
            <a:ext cx="9164329" cy="2038635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E561583-DACF-9B08-E0E3-2C3E1772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6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A298455-7C68-B4B2-175F-50CF50309C36}"/>
              </a:ext>
            </a:extLst>
          </p:cNvPr>
          <p:cNvSpPr/>
          <p:nvPr/>
        </p:nvSpPr>
        <p:spPr>
          <a:xfrm>
            <a:off x="5037667" y="122760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BCBF7E-DCDD-518C-9AE7-E61998222FC5}"/>
              </a:ext>
            </a:extLst>
          </p:cNvPr>
          <p:cNvSpPr txBox="1"/>
          <p:nvPr/>
        </p:nvSpPr>
        <p:spPr>
          <a:xfrm>
            <a:off x="838201" y="3928533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Nommage des surfaces a l’aide de différentes méthodes.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grands types de méthodes : Heuristiques et intelligence artificielle.</a:t>
            </a:r>
          </a:p>
        </p:txBody>
      </p:sp>
    </p:spTree>
    <p:extLst>
      <p:ext uri="{BB962C8B-B14F-4D97-AF65-F5344CB8AC3E}">
        <p14:creationId xmlns:p14="http://schemas.microsoft.com/office/powerpoint/2010/main" val="3084909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E841-180F-CBDE-B8B4-CE94F128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3C95A5-D0FE-099C-3E36-DFD7DA93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- 3D - Fonctionnement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F43A930-1560-7C84-BA74-DDDEEE563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35" y="1500310"/>
            <a:ext cx="9164329" cy="2038635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ABC0A9B-A52A-2766-CDB9-5C6A6A17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7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C3CD45D-F7C4-8B3E-44AB-346E723E5078}"/>
              </a:ext>
            </a:extLst>
          </p:cNvPr>
          <p:cNvSpPr/>
          <p:nvPr/>
        </p:nvSpPr>
        <p:spPr>
          <a:xfrm>
            <a:off x="6976533" y="122760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760BED6-AC9E-B764-6EE4-107FF47E325D}"/>
              </a:ext>
            </a:extLst>
          </p:cNvPr>
          <p:cNvSpPr txBox="1"/>
          <p:nvPr/>
        </p:nvSpPr>
        <p:spPr>
          <a:xfrm>
            <a:off x="838201" y="3928533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Souvent intégrée dans la reconstruction.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Regroupe les éléments de classes similaires proches ensembles.</a:t>
            </a:r>
          </a:p>
        </p:txBody>
      </p:sp>
    </p:spTree>
    <p:extLst>
      <p:ext uri="{BB962C8B-B14F-4D97-AF65-F5344CB8AC3E}">
        <p14:creationId xmlns:p14="http://schemas.microsoft.com/office/powerpoint/2010/main" val="131557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7E6F-597C-2969-F4EE-9EC1C814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89734-DE40-7BFA-4B5F-C3EC7699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- 3D - Fonctionnement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65FEEE8-BF22-4A17-BCB4-5B7B2FA03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35" y="2711043"/>
            <a:ext cx="9164329" cy="2038635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4FC670-8A09-7310-FD0F-7563F2D0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8</a:t>
            </a:fld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73FD62-ABC1-1B58-FB24-730AEA0CB2AF}"/>
              </a:ext>
            </a:extLst>
          </p:cNvPr>
          <p:cNvSpPr/>
          <p:nvPr/>
        </p:nvSpPr>
        <p:spPr>
          <a:xfrm>
            <a:off x="8847667" y="237060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888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6D6BFC-C849-8523-AD91-303BAE99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- 3D - Conclusion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4433238-3220-3107-DC9D-0E8DC8809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860912"/>
              </p:ext>
            </p:extLst>
          </p:nvPr>
        </p:nvGraphicFramePr>
        <p:xfrm>
          <a:off x="838200" y="1825625"/>
          <a:ext cx="10515600" cy="4338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876607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35363501"/>
                    </a:ext>
                  </a:extLst>
                </a:gridCol>
              </a:tblGrid>
              <a:tr h="553647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Avantages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Inconvénients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89737759"/>
                  </a:ext>
                </a:extLst>
              </a:tr>
              <a:tr h="3759061">
                <a:tc>
                  <a:txBody>
                    <a:bodyPr/>
                    <a:lstStyle/>
                    <a:p>
                      <a:r>
                        <a:rPr lang="fr-FR" dirty="0"/>
                        <a:t>-Plus grande précision.</a:t>
                      </a:r>
                    </a:p>
                    <a:p>
                      <a:endParaRPr lang="fr-FR" dirty="0"/>
                    </a:p>
                    <a:p>
                      <a:r>
                        <a:rPr lang="fr-FR" dirty="0"/>
                        <a:t>-Efficace pour les données plus complexes.</a:t>
                      </a:r>
                    </a:p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-Consomme plus de ressources.</a:t>
                      </a:r>
                    </a:p>
                    <a:p>
                      <a:endParaRPr lang="fr-FR" dirty="0"/>
                    </a:p>
                    <a:p>
                      <a:r>
                        <a:rPr lang="fr-FR" dirty="0"/>
                        <a:t>-Moins de faux positifs lors du clustering.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86377789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D93BD8-5F55-2D6B-8AB8-1AD5F90B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548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43795-10AD-0121-EFD3-38FACAD32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06024C-1C92-7783-2328-07B88AB5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- 2D -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266022-C5A3-C591-1409-E77474398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Se base sur des images du nuage de point.</a:t>
            </a:r>
          </a:p>
          <a:p>
            <a:endParaRPr lang="fr-FR" dirty="0"/>
          </a:p>
          <a:p>
            <a:r>
              <a:rPr lang="fr-FR" dirty="0"/>
              <a:t>Plus proche de la méthode classique.</a:t>
            </a:r>
          </a:p>
          <a:p>
            <a:endParaRPr lang="fr-FR" dirty="0"/>
          </a:p>
          <a:p>
            <a:r>
              <a:rPr lang="fr-FR" dirty="0"/>
              <a:t>Moins gourmande en ressources.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35A55F-2D1D-938C-89B0-DE5C33B3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37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0913-90E2-B53F-AC22-101500A9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6141B9-1818-AB2F-27DF-A2FD0DA7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- 2D - Fonctionnement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F1B091B-76EF-4681-0B36-636E513B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11</a:t>
            </a:fld>
            <a:endParaRPr lang="fr-FR"/>
          </a:p>
        </p:txBody>
      </p:sp>
      <p:pic>
        <p:nvPicPr>
          <p:cNvPr id="8" name="Espace réservé du contenu 7" descr="Une image contenant texte, capture d’écran, calculatrice, conception&#10;&#10;Le contenu généré par l’IA peut être incorrect.">
            <a:extLst>
              <a:ext uri="{FF2B5EF4-FFF2-40B4-BE49-F238E27FC236}">
                <a16:creationId xmlns:a16="http://schemas.microsoft.com/office/drawing/2014/main" id="{94E28D59-8611-CFFD-59B6-1A01B583A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454488"/>
            <a:ext cx="3462121" cy="5266987"/>
          </a:xfr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891FA8F-4B31-BF1D-AAE8-48C2CF890D92}"/>
              </a:ext>
            </a:extLst>
          </p:cNvPr>
          <p:cNvSpPr txBox="1"/>
          <p:nvPr/>
        </p:nvSpPr>
        <p:spPr>
          <a:xfrm>
            <a:off x="838200" y="1692910"/>
            <a:ext cx="5689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Détection des étages.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Histogramme vertical de chaque étage.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Segmentation (Lignes a la place des plans).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Clustering des lignes en murs.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Reconstruction des murs trouvés pour l’étage.</a:t>
            </a:r>
          </a:p>
        </p:txBody>
      </p:sp>
      <p:pic>
        <p:nvPicPr>
          <p:cNvPr id="11" name="Image 10" descr="Une image contenant texte, ligne, Police, diagramme&#10;&#10;Le contenu généré par l’IA peut être incorrect.">
            <a:extLst>
              <a:ext uri="{FF2B5EF4-FFF2-40B4-BE49-F238E27FC236}">
                <a16:creationId xmlns:a16="http://schemas.microsoft.com/office/drawing/2014/main" id="{1E70C54D-3089-3023-8266-ED4B81F77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74" y="4823096"/>
            <a:ext cx="6681687" cy="123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54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F211-FBAA-4BC5-4837-A055C878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E3BBE-151A-C0B9-0B75-46A584A3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Méthodes usuelles - 2D - Conclusion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579A416D-B321-476D-DF2F-4F14A5E0A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595815"/>
              </p:ext>
            </p:extLst>
          </p:nvPr>
        </p:nvGraphicFramePr>
        <p:xfrm>
          <a:off x="838200" y="1825625"/>
          <a:ext cx="10515600" cy="4338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876607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35363501"/>
                    </a:ext>
                  </a:extLst>
                </a:gridCol>
              </a:tblGrid>
              <a:tr h="553647"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Avantages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/>
                        <a:t>Inconvénients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89737759"/>
                  </a:ext>
                </a:extLst>
              </a:tr>
              <a:tr h="3759061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Plus rapide que la méthode 3D.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fr-FR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Algorithmiquement plus simple.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Limité aux situations simples (Manhattan World).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fr-FR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Moins précis.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fr-FR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FR" dirty="0"/>
                        <a:t>Limite fortement les éléments détectés.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86377789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C090A64-E43E-861A-A08F-F37B43E7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362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00BE2-3079-598C-DE23-47FA009B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État actuel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06348D-2972-33DE-2D61-1723F0B1F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-Chargement du nuage de points fonctionnel, pas de modifications ou d’ajouts nécessaires.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609E4-A0A3-514F-96CB-F3D2AA9C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13</a:t>
            </a:fld>
            <a:endParaRPr lang="fr-FR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6456A5E4-768E-06C6-20F8-837C8EEB6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35" y="1610376"/>
            <a:ext cx="9164329" cy="203863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7B420CB9-6E9D-8053-7A95-806EA9197310}"/>
              </a:ext>
            </a:extLst>
          </p:cNvPr>
          <p:cNvSpPr/>
          <p:nvPr/>
        </p:nvSpPr>
        <p:spPr>
          <a:xfrm>
            <a:off x="1049867" y="137662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953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EAD18-15E2-9558-40B9-06451582A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C45742-0193-FC1A-B2CD-C8194B3A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État actuel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D0D820-CAEB-BE2C-1E0A-C8937FD6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Segmentation de plans selon 3 directions, peu de résistance au bruit et faible flexibilité.</a:t>
            </a:r>
          </a:p>
          <a:p>
            <a:pPr marL="0" indent="0">
              <a:buNone/>
            </a:pPr>
            <a:r>
              <a:rPr lang="fr-FR" dirty="0"/>
              <a:t>Basée sur la densité des nuage de points.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0E778E-8875-A2D0-8D9F-740AB3B8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14</a:t>
            </a:fld>
            <a:endParaRPr lang="fr-FR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159957A0-AC34-506C-8D81-BF7FE0113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35" y="1610376"/>
            <a:ext cx="9164329" cy="203863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D3EB7B0B-E648-6984-E760-F71B00032B1D}"/>
              </a:ext>
            </a:extLst>
          </p:cNvPr>
          <p:cNvSpPr/>
          <p:nvPr/>
        </p:nvSpPr>
        <p:spPr>
          <a:xfrm>
            <a:off x="2980267" y="137662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483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393D-29D3-CB31-261C-86A4C7BA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80EEC7-AB9A-A1C4-09D1-7269FF8F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État actuel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07CE3B-0E58-F58E-9499-456390483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La classification est faite lors de la segmentation de par la manière de laquelle elle cette dernière est faite.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F59CA9-E4ED-21B9-7130-F80E88C8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15</a:t>
            </a:fld>
            <a:endParaRPr lang="fr-FR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8B51E6A0-65BD-EC16-23D3-DC39C3243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35" y="1610376"/>
            <a:ext cx="9164329" cy="203863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A4BF8C57-736D-83A4-7E15-570DBA5D1385}"/>
              </a:ext>
            </a:extLst>
          </p:cNvPr>
          <p:cNvSpPr/>
          <p:nvPr/>
        </p:nvSpPr>
        <p:spPr>
          <a:xfrm>
            <a:off x="4842933" y="1275026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392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DF400-F4D8-703C-ACDA-3A97F74B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AAAEA3-3AED-44FF-1F88-A435B40F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État actuel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110D01-27BA-9C13-8575-4539C4144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Clustering des plans de normale similaire, proches et superposés. </a:t>
            </a:r>
          </a:p>
          <a:p>
            <a:pPr marL="0" indent="0">
              <a:buNone/>
            </a:pPr>
            <a:r>
              <a:rPr lang="fr-FR" dirty="0"/>
              <a:t>Résultats satisfaisants dans le cas de segmentation satisfaisante.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95E89C-E18A-EDCB-FFBD-A533CA5D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16</a:t>
            </a:fld>
            <a:endParaRPr lang="fr-FR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F86C17FB-DE32-D881-A059-A7A1FB162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35" y="1610376"/>
            <a:ext cx="9164329" cy="203863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E9611F48-0F02-6A84-B769-F85334B86134}"/>
              </a:ext>
            </a:extLst>
          </p:cNvPr>
          <p:cNvSpPr/>
          <p:nvPr/>
        </p:nvSpPr>
        <p:spPr>
          <a:xfrm>
            <a:off x="6832601" y="1258093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581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46B4-BC97-5A37-123F-A595D1ADC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A7C94-B8E9-C147-FF53-B8519C20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État actuel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0355AC-E89E-7589-B448-CA3B59B7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Reconstruction fonctionnelle, pas de changements nécessaires.</a:t>
            </a:r>
          </a:p>
          <a:p>
            <a:pPr marL="0" indent="0">
              <a:buNone/>
            </a:pPr>
            <a:r>
              <a:rPr lang="fr-FR" dirty="0"/>
              <a:t>Éventuels ajouts concernant la soustraction pour les trous.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43977A-2D06-9E5C-D03E-A0DA68EF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17</a:t>
            </a:fld>
            <a:endParaRPr lang="fr-FR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97959AA3-746E-A206-E362-4108A73A3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35" y="1610376"/>
            <a:ext cx="9164329" cy="203863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C6513A88-E9AA-ACA3-9AE3-8583295CB18B}"/>
              </a:ext>
            </a:extLst>
          </p:cNvPr>
          <p:cNvSpPr/>
          <p:nvPr/>
        </p:nvSpPr>
        <p:spPr>
          <a:xfrm>
            <a:off x="8661400" y="1291959"/>
            <a:ext cx="2506133" cy="250613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74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7EF7A8-2563-6120-CFBB-BF94B245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Solution envisagée pour les trous -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FB8388-D459-63D2-7BF2-3146C506A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r>
              <a:rPr lang="fr-FR" dirty="0"/>
              <a:t>Imaginée par rapport à l’état actuel du projet.</a:t>
            </a:r>
          </a:p>
          <a:p>
            <a:pPr>
              <a:spcBef>
                <a:spcPts val="1800"/>
              </a:spcBef>
            </a:pPr>
            <a:endParaRPr lang="fr-FR" dirty="0"/>
          </a:p>
          <a:p>
            <a:pPr>
              <a:spcBef>
                <a:spcPts val="1800"/>
              </a:spcBef>
            </a:pPr>
            <a:r>
              <a:rPr lang="fr-FR" dirty="0"/>
              <a:t>Utilise cloud compare de manière automatisée (pas besoin d’interaction humaine).</a:t>
            </a:r>
          </a:p>
          <a:p>
            <a:pPr>
              <a:spcBef>
                <a:spcPts val="1800"/>
              </a:spcBef>
            </a:pPr>
            <a:endParaRPr lang="fr-FR" dirty="0"/>
          </a:p>
          <a:p>
            <a:pPr>
              <a:spcBef>
                <a:spcPts val="1800"/>
              </a:spcBef>
            </a:pPr>
            <a:r>
              <a:rPr lang="fr-FR" dirty="0"/>
              <a:t>Utilise un API d’une IA préexistante (e.g. Chat GPT).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605D6C-5210-62BF-455C-50BED004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0904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BC5ABC-74A9-21D5-35E8-1EDA021D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Solution envisagée pour les trous -        Pipeline globale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A14FFB-472F-B0B2-8CC4-B6185C8F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19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F9852F-1269-08F6-D2F7-30A8AD96A0DC}"/>
              </a:ext>
            </a:extLst>
          </p:cNvPr>
          <p:cNvSpPr txBox="1"/>
          <p:nvPr/>
        </p:nvSpPr>
        <p:spPr>
          <a:xfrm>
            <a:off x="584200" y="3333467"/>
            <a:ext cx="1693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Plan correspondant a un mur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6411E58-88F9-0EC5-01AA-ACAD14CCFE01}"/>
              </a:ext>
            </a:extLst>
          </p:cNvPr>
          <p:cNvSpPr txBox="1"/>
          <p:nvPr/>
        </p:nvSpPr>
        <p:spPr>
          <a:xfrm>
            <a:off x="3191934" y="3056468"/>
            <a:ext cx="2328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d’une macro </a:t>
            </a:r>
            <a:r>
              <a:rPr lang="fr-FR" dirty="0" err="1"/>
              <a:t>CloudCompare</a:t>
            </a:r>
            <a:r>
              <a:rPr lang="fr-FR" dirty="0"/>
              <a:t> pour avoir une image du plan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AF0982-3C5D-94AE-DE21-F0D2474FCB2F}"/>
              </a:ext>
            </a:extLst>
          </p:cNvPr>
          <p:cNvSpPr txBox="1"/>
          <p:nvPr/>
        </p:nvSpPr>
        <p:spPr>
          <a:xfrm>
            <a:off x="6096000" y="3132667"/>
            <a:ext cx="2235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de l’API pour récupérer les informations sur les trous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9ED96D-4065-0FAB-2EAE-7227A858E0AE}"/>
              </a:ext>
            </a:extLst>
          </p:cNvPr>
          <p:cNvSpPr txBox="1"/>
          <p:nvPr/>
        </p:nvSpPr>
        <p:spPr>
          <a:xfrm>
            <a:off x="8936566" y="3056468"/>
            <a:ext cx="2091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Reconstruction puis soustraction des trous au modèle existant.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A72FFEC1-1689-8792-9742-C89B8910158D}"/>
              </a:ext>
            </a:extLst>
          </p:cNvPr>
          <p:cNvSpPr/>
          <p:nvPr/>
        </p:nvSpPr>
        <p:spPr>
          <a:xfrm>
            <a:off x="2234722" y="3527161"/>
            <a:ext cx="957212" cy="47413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35886420-B19A-CD41-7F6F-D99A6AADD351}"/>
              </a:ext>
            </a:extLst>
          </p:cNvPr>
          <p:cNvSpPr/>
          <p:nvPr/>
        </p:nvSpPr>
        <p:spPr>
          <a:xfrm>
            <a:off x="5371861" y="3504671"/>
            <a:ext cx="724139" cy="47413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C0B24751-88A9-2A5F-22E4-74CB7443461E}"/>
              </a:ext>
            </a:extLst>
          </p:cNvPr>
          <p:cNvSpPr/>
          <p:nvPr/>
        </p:nvSpPr>
        <p:spPr>
          <a:xfrm>
            <a:off x="8203960" y="3412067"/>
            <a:ext cx="732606" cy="47413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318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B4F5AA-4665-7FF8-F263-9547C39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Solution envisagée pour les trous -            Macro </a:t>
            </a:r>
            <a:r>
              <a:rPr lang="fr-FR" dirty="0" err="1"/>
              <a:t>CloudCompare</a:t>
            </a:r>
            <a:endParaRPr lang="fr-FR" dirty="0"/>
          </a:p>
        </p:txBody>
      </p:sp>
      <p:pic>
        <p:nvPicPr>
          <p:cNvPr id="6" name="Espace réservé du contenu 5" descr="Une image contenant mur, intérieur, porte, salle de bain&#10;&#10;Le contenu généré par l’IA peut être incorrect.">
            <a:extLst>
              <a:ext uri="{FF2B5EF4-FFF2-40B4-BE49-F238E27FC236}">
                <a16:creationId xmlns:a16="http://schemas.microsoft.com/office/drawing/2014/main" id="{1B8CCB70-A5A1-FAFD-3E4B-C971D2044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20" y="1862847"/>
            <a:ext cx="10515600" cy="2021373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7EE22C-6BCD-49BF-2519-8BD95F92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20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513DB6-D2CA-CE8C-CA3B-3076B1B1869C}"/>
              </a:ext>
            </a:extLst>
          </p:cNvPr>
          <p:cNvSpPr txBox="1"/>
          <p:nvPr/>
        </p:nvSpPr>
        <p:spPr>
          <a:xfrm>
            <a:off x="1010920" y="4267200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Angle et distance calculés et définis automatiquement.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L’application se lance visiblement, mais pas besoin d’interaction humaine.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ne garde que le plan concerné et les alentours très proches.</a:t>
            </a:r>
          </a:p>
        </p:txBody>
      </p:sp>
    </p:spTree>
    <p:extLst>
      <p:ext uri="{BB962C8B-B14F-4D97-AF65-F5344CB8AC3E}">
        <p14:creationId xmlns:p14="http://schemas.microsoft.com/office/powerpoint/2010/main" val="1143157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E51A9-1699-FA74-7A71-869E6C1B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Solution envisagée pour les trous -     Utilisation de l’API</a:t>
            </a:r>
          </a:p>
        </p:txBody>
      </p:sp>
      <p:pic>
        <p:nvPicPr>
          <p:cNvPr id="6" name="Espace réservé du contenu 5" descr="Une image contenant mur, Rectangle, porte, intérieur&#10;&#10;Le contenu généré par l’IA peut être incorrect.">
            <a:extLst>
              <a:ext uri="{FF2B5EF4-FFF2-40B4-BE49-F238E27FC236}">
                <a16:creationId xmlns:a16="http://schemas.microsoft.com/office/drawing/2014/main" id="{C64E5FCB-56A6-297F-6888-45A60C1C2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" y="1766895"/>
            <a:ext cx="6105240" cy="1325563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1A04B8-E2A7-B96A-5C70-F34156C4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21</a:t>
            </a:fld>
            <a:endParaRPr lang="fr-FR"/>
          </a:p>
        </p:txBody>
      </p:sp>
      <p:pic>
        <p:nvPicPr>
          <p:cNvPr id="8" name="Image 7" descr="Une image contenant porte, mur, Rectangle, propriété&#10;&#10;Le contenu généré par l’IA peut être incorrect.">
            <a:extLst>
              <a:ext uri="{FF2B5EF4-FFF2-40B4-BE49-F238E27FC236}">
                <a16:creationId xmlns:a16="http://schemas.microsoft.com/office/drawing/2014/main" id="{73BD8C12-B02B-818F-2760-EA5CB1CEC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6895"/>
            <a:ext cx="6105237" cy="132556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10C6380-DD41-F290-B02B-67D21B0CB288}"/>
              </a:ext>
            </a:extLst>
          </p:cNvPr>
          <p:cNvSpPr txBox="1"/>
          <p:nvPr/>
        </p:nvSpPr>
        <p:spPr>
          <a:xfrm>
            <a:off x="304800" y="3429000"/>
            <a:ext cx="1104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Utilisation de la version gratuite de </a:t>
            </a:r>
            <a:r>
              <a:rPr lang="fr-FR" dirty="0" err="1"/>
              <a:t>ChatGPT</a:t>
            </a:r>
            <a:r>
              <a:rPr lang="fr-FR" dirty="0"/>
              <a:t> (Pas d’API pour le moment).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Résultat peu convaincant, il détecte bien les trois portes, dont une fermée (Et les identifie correctement en tant que telle), mais les positions sont incohérentes.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Tests difficiles a cause de la très faible limite de requêtes et du temps d’attente.</a:t>
            </a:r>
          </a:p>
        </p:txBody>
      </p:sp>
    </p:spTree>
    <p:extLst>
      <p:ext uri="{BB962C8B-B14F-4D97-AF65-F5344CB8AC3E}">
        <p14:creationId xmlns:p14="http://schemas.microsoft.com/office/powerpoint/2010/main" val="534373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E5FEF8-9B7E-D998-5F12-E8D2546E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Solution envisagée pour les trous – Reconstruction et soustraction du résultat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50F3BF-0E58-1FAB-B3C4-651190060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 d’analyse d’image ou directement des coordonnées données pour reconstruire une partie du plan seulement.</a:t>
            </a:r>
          </a:p>
          <a:p>
            <a:endParaRPr lang="fr-FR" dirty="0"/>
          </a:p>
          <a:p>
            <a:r>
              <a:rPr lang="fr-FR" dirty="0"/>
              <a:t>Utilisation de Blender pour soustraire les nouveaux plans au modèle déjà créer avant la conversion en IFC.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88809B-AC84-3AE3-5073-C161B9E3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639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7FC97B-0A46-C054-B742-9469C29D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Solution envisagée pour les trous -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D99A11-0779-AD4A-93FA-087967733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vrai défi réside dans les résultats obtenus a l’aide de l’IA.</a:t>
            </a:r>
          </a:p>
          <a:p>
            <a:endParaRPr lang="fr-FR" dirty="0"/>
          </a:p>
          <a:p>
            <a:r>
              <a:rPr lang="fr-FR" dirty="0"/>
              <a:t>L’utilisation de l’API est un problème en soit de par ses spécificités.</a:t>
            </a:r>
          </a:p>
          <a:p>
            <a:endParaRPr lang="fr-FR" dirty="0"/>
          </a:p>
          <a:p>
            <a:r>
              <a:rPr lang="fr-FR" dirty="0"/>
              <a:t>L’utilisation de l’IA a ce niveau la est elle vraiment intéressante ?</a:t>
            </a:r>
          </a:p>
          <a:p>
            <a:endParaRPr lang="fr-FR" dirty="0"/>
          </a:p>
          <a:p>
            <a:r>
              <a:rPr lang="fr-FR" dirty="0"/>
              <a:t>Les autres parties ne sont pas encore implémentées, mais représente des difficultés moindres.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190C6E-7B34-9EDA-35EA-58397927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74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76BA19-CB4D-56C5-4A7E-67868ED6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Solution envisagée pour les trous -          Détails sur l’utilisation d’APIs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C8B401-518C-6FCC-C727-C4FC1CA5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Utiliser un API représente un coût, le prix dépends du nombre de </a:t>
            </a:r>
            <a:r>
              <a:rPr lang="fr-FR" dirty="0" err="1"/>
              <a:t>tokens</a:t>
            </a:r>
            <a:r>
              <a:rPr lang="fr-FR" dirty="0"/>
              <a:t> de la requête.</a:t>
            </a:r>
          </a:p>
          <a:p>
            <a:endParaRPr lang="fr-FR" dirty="0"/>
          </a:p>
          <a:p>
            <a:r>
              <a:rPr lang="fr-FR" dirty="0"/>
              <a:t>Variants de quelques centimes a plus de 100$ par million de </a:t>
            </a:r>
            <a:r>
              <a:rPr lang="fr-FR" dirty="0" err="1"/>
              <a:t>tokens</a:t>
            </a:r>
            <a:r>
              <a:rPr lang="fr-FR" dirty="0"/>
              <a:t> suivant le modèle, avec une moyenne aux alentours de la dizaine de $.</a:t>
            </a:r>
          </a:p>
          <a:p>
            <a:endParaRPr lang="fr-FR" dirty="0"/>
          </a:p>
          <a:p>
            <a:r>
              <a:rPr lang="fr-FR" dirty="0"/>
              <a:t>Une requête avec une image représente 100~2k </a:t>
            </a:r>
            <a:r>
              <a:rPr lang="fr-FR" dirty="0" err="1"/>
              <a:t>tokens</a:t>
            </a:r>
            <a:r>
              <a:rPr lang="fr-FR" dirty="0"/>
              <a:t> environ, suivant la qualité de l’image.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B5E7E0-936B-CEE4-02B8-3ECB14D1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978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CEDFEA-52B1-1D4E-4137-915E2DB2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Perspectives à court terme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588D50-C170-6816-2AA0-F0EE3DF4B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Analyse des thèses envoyées hier.</a:t>
            </a:r>
          </a:p>
          <a:p>
            <a:endParaRPr lang="fr-FR" dirty="0"/>
          </a:p>
          <a:p>
            <a:r>
              <a:rPr lang="fr-FR" dirty="0"/>
              <a:t>Implémentation de la solution exposée précédemment.</a:t>
            </a:r>
          </a:p>
          <a:p>
            <a:endParaRPr lang="fr-FR" dirty="0"/>
          </a:p>
          <a:p>
            <a:pPr lvl="1"/>
            <a:r>
              <a:rPr lang="fr-FR" dirty="0"/>
              <a:t>Défi : Utilisation correcte de l’API.</a:t>
            </a:r>
          </a:p>
          <a:p>
            <a:endParaRPr lang="fr-FR" dirty="0"/>
          </a:p>
          <a:p>
            <a:r>
              <a:rPr lang="fr-FR" dirty="0"/>
              <a:t>Éventuelles recherches suite a la réunion d’aujourd’hui.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462132-2A47-AD95-D485-117BCC04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156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15684-8D8B-20BE-AB59-3E208E7C9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Perspectives à moyen terme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A6D5FC-B557-FFBC-6732-33371D190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Direction du projet.</a:t>
            </a:r>
          </a:p>
          <a:p>
            <a:endParaRPr lang="fr-FR" dirty="0"/>
          </a:p>
          <a:p>
            <a:r>
              <a:rPr lang="fr-FR" dirty="0"/>
              <a:t>Cahier des charges/attendus.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7DD1BF-CE0E-16AD-5970-C47E26E8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5681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306857-47A0-C315-91C2-DE9B8E1A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Perspectives à moyen terme -                Direction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821DF6-54FD-9F81-4892-F57277355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pipeline actuel est basé sur une méthode 3D.</a:t>
            </a:r>
          </a:p>
          <a:p>
            <a:endParaRPr lang="fr-FR" dirty="0"/>
          </a:p>
          <a:p>
            <a:r>
              <a:rPr lang="fr-FR" dirty="0"/>
              <a:t>La segmentation donne peu de flexibilité et fonctionne dans des situations limitées.</a:t>
            </a:r>
          </a:p>
          <a:p>
            <a:endParaRPr lang="fr-FR" dirty="0"/>
          </a:p>
          <a:p>
            <a:r>
              <a:rPr lang="fr-FR" dirty="0"/>
              <a:t>Sur quel aspect se concentrer ?</a:t>
            </a:r>
          </a:p>
          <a:p>
            <a:endParaRPr lang="fr-FR" dirty="0"/>
          </a:p>
          <a:p>
            <a:r>
              <a:rPr lang="fr-FR" dirty="0"/>
              <a:t>Que garder, que refaire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99619C-9880-78CB-59DE-63AFCA46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51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E660-B7E4-2C57-3310-B8DBBEE2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296D7-AA37-D267-1F8F-CF791E831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Perspectives à moyen terme -                     Cahier des charges/attendus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942BC-CF08-06E2-DBED-44544EADD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Problématique de temps : Autoformation très chronophage.</a:t>
            </a:r>
          </a:p>
          <a:p>
            <a:endParaRPr lang="fr-FR" dirty="0"/>
          </a:p>
          <a:p>
            <a:r>
              <a:rPr lang="fr-FR" dirty="0"/>
              <a:t>Priorisé les attentes au lieu de les généraliser.</a:t>
            </a:r>
          </a:p>
          <a:p>
            <a:endParaRPr lang="fr-FR" dirty="0"/>
          </a:p>
          <a:p>
            <a:r>
              <a:rPr lang="fr-FR" dirty="0"/>
              <a:t>Détailler les attentes plus précisément ainsi que leur donner un ordre d’importance.</a:t>
            </a:r>
          </a:p>
          <a:p>
            <a:endParaRPr lang="fr-FR" dirty="0"/>
          </a:p>
          <a:p>
            <a:r>
              <a:rPr lang="fr-FR" dirty="0"/>
              <a:t>Envisager le devenir du projet au long terme.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6A5A79-207D-F0BE-5940-2119CB67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D118-F928-4355-9392-B4BA525631B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3790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</TotalTime>
  <Words>969</Words>
  <Application>Microsoft Office PowerPoint</Application>
  <PresentationFormat>Grand écran</PresentationFormat>
  <Paragraphs>208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Thème Office</vt:lpstr>
      <vt:lpstr>Objectifs</vt:lpstr>
      <vt:lpstr>Sommaire</vt:lpstr>
      <vt:lpstr>Méthodes usuelles - 3D - Introduction</vt:lpstr>
      <vt:lpstr>Méthodes usuelles - 3D - Fonctionnement</vt:lpstr>
      <vt:lpstr>Méthodes usuelles - 3D - Fonctionnement</vt:lpstr>
      <vt:lpstr>Méthodes usuelles - 3D - Fonctionnement</vt:lpstr>
      <vt:lpstr>Méthodes usuelles - 3D - Fonctionnement</vt:lpstr>
      <vt:lpstr>Méthodes usuelles - 3D - Fonctionnement</vt:lpstr>
      <vt:lpstr>Méthodes usuelles - 3D - Conclusion</vt:lpstr>
      <vt:lpstr>Méthodes usuelles - 2D - Introduction</vt:lpstr>
      <vt:lpstr>Méthodes usuelles - 2D - Fonctionnement</vt:lpstr>
      <vt:lpstr>Méthodes usuelles - 2D - Conclusion</vt:lpstr>
      <vt:lpstr>État actuel du projet</vt:lpstr>
      <vt:lpstr>État actuel du projet</vt:lpstr>
      <vt:lpstr>État actuel du projet</vt:lpstr>
      <vt:lpstr>État actuel du projet</vt:lpstr>
      <vt:lpstr>État actuel du projet</vt:lpstr>
      <vt:lpstr>Solution envisagée pour les trous - Introduction</vt:lpstr>
      <vt:lpstr>Solution envisagée pour les trous -        Pipeline globale</vt:lpstr>
      <vt:lpstr>Solution envisagée pour les trous -            Macro CloudCompare</vt:lpstr>
      <vt:lpstr>Solution envisagée pour les trous -     Utilisation de l’API</vt:lpstr>
      <vt:lpstr>Solution envisagée pour les trous – Reconstruction et soustraction du résultat</vt:lpstr>
      <vt:lpstr>Solution envisagée pour les trous - Conclusion</vt:lpstr>
      <vt:lpstr>Solution envisagée pour les trous -          Détails sur l’utilisation d’APIs</vt:lpstr>
      <vt:lpstr>Perspectives à court terme</vt:lpstr>
      <vt:lpstr>Perspectives à moyen terme</vt:lpstr>
      <vt:lpstr>Perspectives à moyen terme -                Direction du projet</vt:lpstr>
      <vt:lpstr>Perspectives à moyen terme -                     Cahier des charges/attendus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newuser</dc:creator>
  <cp:lastModifiedBy>Eliott Sentenac</cp:lastModifiedBy>
  <cp:revision>11</cp:revision>
  <dcterms:created xsi:type="dcterms:W3CDTF">2025-06-20T02:07:23Z</dcterms:created>
  <dcterms:modified xsi:type="dcterms:W3CDTF">2025-06-20T13:01:17Z</dcterms:modified>
</cp:coreProperties>
</file>